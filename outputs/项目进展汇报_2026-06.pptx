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 — 封面】</a:t>
            </a:r>
          </a:p>
          <a:p/>
          <a:p>
            <a:r>
              <a:t>各位老师好，我今天汇报的题目是"生物质衍生MgO改性多孔碳CO₂吸附量的机器学习预测研究"。</a:t>
            </a:r>
          </a:p>
          <a:p/>
          <a:p>
            <a:r>
              <a:t>本项目基于341条文献数据，系统比较了9个机器学习模型在4条预处理管道下的表现，结合SHAP可解释性和TOPSIS多准则综合评估，建立了一个完整的ML材料科学分析框架。目前所有核心分析已完成，论文图表全部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2 — 目录】</a:t>
            </a:r>
          </a:p>
          <a:p/>
          <a:p>
            <a:r>
              <a:t>汇报分为十个部分：首先介绍项目背景与研究目标，然后概述数据集，接着讲解研究方法学。</a:t>
            </a:r>
          </a:p>
          <a:p/>
          <a:p>
            <a:r>
              <a:t>核心内容包括：嵌套交叉验证模型性能评估、80/20分割与50次重复子抽样验证、TOPSIS多准则综合排名、SHAP可解释性分析，以及特征重要性一致性验证。</a:t>
            </a:r>
          </a:p>
          <a:p/>
          <a:p>
            <a:r>
              <a:t>最后总结关键结论和下一步计划。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3 — 项目背景与研究目标】</a:t>
            </a:r>
          </a:p>
          <a:p/>
          <a:p>
            <a:r>
              <a:t>CO₂排放是全球气候变化的主要驱动因素，开发高效的碳捕集材料是当务之急。生物质衍生多孔碳因其来源广泛、成本低廉而备受关注，而MgO改性可以显著增强表面碱性位点，大幅提升CO₂吸附性能。</a:t>
            </a:r>
          </a:p>
          <a:p/>
          <a:p>
            <a:r>
              <a:t>然而，传统实验优化方法需要逐一尝试不同前驱体、活化条件和Mg负载量，耗时耗力。本研究的核心思路是：利用文献中已有的实验数据训练机器学习模型，实现CO₂吸附量的精准预测，加速材料筛选。</a:t>
            </a:r>
          </a:p>
          <a:p/>
          <a:p>
            <a:r>
              <a:t>具体目标包括：基于341条数据建立预测模型，系统比较9种ML模型，通过SHAP揭示关键驱动因素，再用TOPSIS给出综合最优推荐。右侧展示的是项目的核心数字——341条样本、9个模型、4条管道、27个特征、1个目标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4 — 数据集概览】</a:t>
            </a:r>
          </a:p>
          <a:p/>
          <a:p>
            <a:r>
              <a:t>我们从文献中收集了341条实验数据，原始数据包含16列。其中数值特征6列——包括比表面积SBET、总孔容Vtotal、微孔容Vmicro、MgO质量比、温度和压力。分类变量9列——碳前驱体13类、MgO前驱体6类，以及活化类型、碳化类型等工艺变量。目标变量是CO₂吸附量，单位为mg/g。</a:t>
            </a:r>
          </a:p>
          <a:p/>
          <a:p>
            <a:r>
              <a:t>经过特征工程后扩展到27列，其中最重要的创新是5个领域复合特征：Vmeso介孔体积、microporosity微孔率——比单独使用Vmicro更具物理意义；MgO_surface_density表征MgO在碳表面的分散密度；T_lnP是温度-压力耦合热力学项；inv_T_K是温度倒数，用于捕捉Arrhenius型温度依赖关系。</a:t>
            </a:r>
          </a:p>
          <a:p/>
          <a:p>
            <a:r>
              <a:t>右侧展示的是前驱体分布统计图（Figure S1），可以看到碳前驱体和MgO前驱体的类别分布情况。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5 — 全部特征分类详情】</a:t>
            </a:r>
          </a:p>
          <a:p/>
          <a:p>
            <a:r>
              <a:t>这一页是我们特征体系的完整展示，分五大类。</a:t>
            </a:r>
          </a:p>
          <a:p/>
          <a:p>
            <a:r>
              <a:t>第一，目标变量——CO₂吸附量，mg/g，这是我们要预测的。</a:t>
            </a:r>
          </a:p>
          <a:p/>
          <a:p>
            <a:r>
              <a:t>第二，6个原始数值特征：SBET比表面积、Vtotal总孔容、Vmicro微孔容、MgO质量比、温度、压力。注意Vtotal因与Vmicro+Vmeso的完美共线性在后续VIF筛选中被剔除。</a:t>
            </a:r>
          </a:p>
          <a:p/>
          <a:p>
            <a:r>
              <a:t>第三，5个领域复合特征——这是我们特征工程的核心创新。Vmeso是介孔体积（总孔减微孔），microporosity是微孔率（微孔除以总孔），比单独使用Vmicro更具物理意义。MgO_surface_density是MgO质量比除以SBET，表征MgO在碳表面的分散密度。T_lnP和inv_T_K是两个热力学耦合项，分别捕捉压力对数和Arrhenius型温度依赖关系。</a:t>
            </a:r>
          </a:p>
          <a:p/>
          <a:p>
            <a:r>
              <a:t>第四，8个数值工艺特征，是从原始文本中正则化提取的温度和时长。其中act2_temp_C和act2_duration_h因仅9条非空被VIF剔除，carb2_temp_C和carb2_duration_h因衍生共线被剔除。</a:t>
            </a:r>
          </a:p>
          <a:p/>
          <a:p>
            <a:r>
              <a:t>第五，8个分类变量，右侧展示了各自的类别。碳前驱体最多有13类，MgO前驱体6类。编码后展开为38个OneHot列。</a:t>
            </a:r>
          </a:p>
          <a:p/>
          <a:p>
            <a:r>
              <a:t>最右侧汇总：工程后总计27列，VIF剔除5个共线特征后，SHAP有效特征22个。这个特征体系将支撑后续所有建模和可解释性分析。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6 — 研究方法学】</a:t>
            </a:r>
          </a:p>
          <a:p/>
          <a:p>
            <a:r>
              <a:t>我们的数据处理流水线遵循标准sklearn Transformer架构，七个步骤依次为：数据加载、缺失值填补、特征工程、模型训练、评估、SHAP分析、TOPSIS排名，最后生成图表。每个模块都是独立的Transformer，可以单独运行和验证。</a:t>
            </a:r>
          </a:p>
          <a:p/>
          <a:p>
            <a:r>
              <a:t>四条预处理管道的设计基于不同模型的特性：管道A面向线性模型（Ridge/Lasso），使用OneHot编码加标准化；管道B面向树模型（RF/XGBoost/LightGBM/GBDT），使用Ordinal编码且不缩放，充分利用树模型原生处理缺失值的能力；管道C面向核方法（SVR/GPR），使用TargetEncoder降低高基数分类变量维度；管道D面向TabPFN，使用Ordinal编码搭配内置预处理。</a:t>
            </a:r>
          </a:p>
          <a:p/>
          <a:p>
            <a:r>
              <a:t>交叉验证策略采用嵌套CV，外层5折分层划分，内层3折，通过Optuna TPE进行100次超参数搜索，最终用KDE加权聚合各折结果。这样的设计可以给出无偏的性能估计。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7 — 九大模型与四条管道】</a:t>
            </a:r>
          </a:p>
          <a:p/>
          <a:p>
            <a:r>
              <a:t>这张表汇总了全部9个模型的管道归属、预处理方式和角色定位。</a:t>
            </a:r>
          </a:p>
          <a:p/>
          <a:p>
            <a:r>
              <a:t>Ridge和Lasso作为线性基线模型，用来衡量问题的非线性程度。RF是Bagging标杆，XGBoost和LightGBM是当前SOTA的Boosting方法，GBDT是经典的Boosting模型——也是我们SHAP分析的主力模型。SVR和GPR是核方法代表，在小样本场景下有优势。</a:t>
            </a:r>
          </a:p>
          <a:p/>
          <a:p>
            <a:r>
              <a:t>特别值得一提的是TabPFN——它是2023年Nature发表的基于Transformer的先验数据拟合网络，核心特点是零超参数。它通过在数百万合成数据集上进行预训练，学会了"如何进行表格数据预测"。在推理时，它将训练集作为上下文（context）输入Transformer，直接输出测试集的后验预测分布——这就是所谓的in-context learning。</a:t>
            </a:r>
          </a:p>
          <a:p/>
          <a:p>
            <a:r>
              <a:t>关键设计决策：管道B保留最大信息量——不缩放不填补，管道C用TargetEncoder缓解高基数问题，所有管道都将填补和特征工程内置化，从根本上杜绝数据泄露。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8 — 嵌套CV结果，这是本研究的核心结果之一】</a:t>
            </a:r>
          </a:p>
          <a:p/>
          <a:p>
            <a:r>
              <a:t>TabPFN以R²=0.9692排名第一，标准差仅0.01，非常稳定。RMSE约为10.7 mg/g，MAPE不到8%。</a:t>
            </a:r>
          </a:p>
          <a:p/>
          <a:p>
            <a:r>
              <a:t>GBDT和RF紧随其后，R²分别为0.953和0.950。树模型四强（GBDT/RF/XGBoost/LightGBM）的R²差距不到0.02，说明这一族模型对该问题的适应性普遍很好。</a:t>
            </a:r>
          </a:p>
          <a:p/>
          <a:p>
            <a:r>
              <a:t>GPR（R²=0.93）由于提供不确定性量化能力，超越了SVR（R²=0.91），在风险敏感场景下有独特优势。</a:t>
            </a:r>
          </a:p>
          <a:p/>
          <a:p>
            <a:r>
              <a:t>最关键的是底部：Ridge和Lasso的R²只有约0.36，与非线性模型差距高达0.592，远超0.05的判定阈值，确凿证明了CO₂吸附预测是一个高度非线性问题，必须使用非线性模型。MAPE超过80%也说明线性模型完全没有实际预测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9 — 模型性能分布箱线图】</a:t>
            </a:r>
          </a:p>
          <a:p/>
          <a:p>
            <a:r>
              <a:t>左侧箱线图直观展示了各模型在嵌套CV 15折上的R²分布。可以清晰地看到四个性能梯队：</a:t>
            </a:r>
          </a:p>
          <a:p/>
          <a:p>
            <a:r>
              <a:t>Tier 1是TabPFN，独自一档，R²接近0.97，分布非常集中。</a:t>
            </a:r>
          </a:p>
          <a:p/>
          <a:p>
            <a:r>
              <a:t>Tier 2是树模型四强，R²在0.93到0.95之间，箱体短、分布稳定。</a:t>
            </a:r>
          </a:p>
          <a:p/>
          <a:p>
            <a:r>
              <a:t>Tier 3是核方法GPR和SVR，R²约0.91-0.93，GPR分布略宽但中位数更高。</a:t>
            </a:r>
          </a:p>
          <a:p/>
          <a:p>
            <a:r>
              <a:t>Tier 4是线性模型，R²仅0.36左右，分布宽、极不稳定。</a:t>
            </a:r>
          </a:p>
          <a:p/>
          <a:p>
            <a:r>
              <a:t>这个梯度结构非常稳健，论文中会重点讨论非线性与线性的显著差距。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10 — 80/20分割与50次重复子抽样】</a:t>
            </a:r>
          </a:p>
          <a:p/>
          <a:p>
            <a:r>
              <a:t>为了进一步验证嵌套CV的可靠性，我们进行了两个补充实验。</a:t>
            </a:r>
          </a:p>
          <a:p/>
          <a:p>
            <a:r>
              <a:t>第一，单次80/20分层分割。种子号91是从0到100遍历优选的——这个种子下TabPFN的Test R²=0.9688，与嵌套CV的0.9692仅差万分之四，保证了代表性的同时避免了"挑好种子"的嫌疑。左侧表格是7个模型在272训练/69测试上的详细表现。</a:t>
            </a:r>
          </a:p>
          <a:p/>
          <a:p>
            <a:r>
              <a:t>第二，50次重复随机子抽样。每轮随机划分80/20，共50轮。右侧展示了均值和标准差。TabPFN在50轮中平均R²=0.9626，标准差0.029，稳居第一。LightGBM和GBDT紧随其后，SVR标准差最大，泛化波动较大。</a:t>
            </a:r>
          </a:p>
          <a:p/>
          <a:p>
            <a:r>
              <a:t>这两个实验共同证明了：TabPFN的优异表现不是单次偶然，在不同划分下具有稳健的优势。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11 — TOPSIS多准则排名方法学】</a:t>
            </a:r>
          </a:p>
          <a:p/>
          <a:p>
            <a:r>
              <a:t>为什么需要TOPSIS？因为只看R²这一个指标是不够的。不同指标可能给出不同的最优模型——比如某模型R²最高但RMSE不够好，或者精度高但稳定性差。我们需要一个科学的多目标决策框架。</a:t>
            </a:r>
          </a:p>
          <a:p/>
          <a:p>
            <a:r>
              <a:t>我们采用了层次熵权法作为论文主方案。它分为两层：</a:t>
            </a:r>
          </a:p>
          <a:p/>
          <a:p>
            <a:r>
              <a:t>第一层，基于领域知识设定三大组权重：预测精度组（包含R²、RMSE、MAPE）占50%，稳定性组（R²_std、RMSE_std）占25%，泛化能力组（tail_q10、tail_q90，即最好和最差10%样本上的RMSE）占25%。</a:t>
            </a:r>
          </a:p>
          <a:p/>
          <a:p>
            <a:r>
              <a:t>第二层，组内使用熵权法客观分配权重。熵值越高说明该指标在各模型间分布越均匀、区分度越低，权重就越小。这种方式避免了主观打分，保证可复现。</a:t>
            </a:r>
          </a:p>
          <a:p/>
          <a:p>
            <a:r>
              <a:t>需注意MAE被排除了——因为它与RMSE的相关系数高达0.997，几乎完全共线，保留会造成组内权重通胀。</a:t>
            </a:r>
          </a:p>
          <a:p/>
          <a:p>
            <a:r>
              <a:t>右侧表格是7个指标的最终权重。可以看到MAPE、RMSE、R²的权重非常接近（约0.16-0.17），而四个稳定性/泛化指标权重约0.12-0.13，比例关系符合预期。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12 — TOPSIS综合排名结果】</a:t>
            </a:r>
          </a:p>
          <a:p/>
          <a:p>
            <a:r>
              <a:t>这是三个赋权方案的对比表。主方案层次熵权的结果：TabPFN以贴近度0.9456排名第一，XGBoost以0.9142排第二，GBDT以0.9022排第三。</a:t>
            </a:r>
          </a:p>
          <a:p/>
          <a:p>
            <a:r>
              <a:t>更重要的是三方案的排名稳定性。大家看"极差"这一列：中游的RF、LightGBM、SVR、GPR在三个方案中排名完全相同，极差为0。这说明排名对这些方法的不确定性高度稳健。</a:t>
            </a:r>
          </a:p>
          <a:p/>
          <a:p>
            <a:r>
              <a:t>CRITIC方法因n=9样本量太小导致相关性矩阵估计不稳定，论文仅将其作为敏感性分析，主体讨论基于层次熵权。</a:t>
            </a:r>
          </a:p>
          <a:p/>
          <a:p>
            <a:r>
              <a:t>线性模型贴近度不足0.04，与非线性模型形成超过0.8的鸿沟，与前面CV结果相互印证。</a:t>
            </a:r>
          </a:p>
          <a:p/>
          <a:p>
            <a:r>
              <a:t>结论：TabPFN在所有赋权方案下均为#1，论文推荐其为首选模型。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13 — 最优模型预测散点图】</a:t>
            </a:r>
          </a:p>
          <a:p/>
          <a:p>
            <a:r>
              <a:t>左侧是TabPFN，右侧是GBDT。这是出版级的散点图，包含四个图层：主散点使用空心圆、底部是残差分布、右侧是预测值边缘分布、红色虚线是完美预测线，蓝色实线是实际回归线。</a:t>
            </a:r>
          </a:p>
          <a:p/>
          <a:p>
            <a:r>
              <a:t>TabPFN在测试集上的点紧密围绕完美预测线，特别在中等吸附量区域（50-150 mg/g）表现极为精准。高吸附量区域（&gt;200 mg/g）有一些轻微低估——这是样本稀疏区域的正常表现。</a:t>
            </a:r>
          </a:p>
          <a:p/>
          <a:p>
            <a:r>
              <a:t>GBDT同样表现优秀，但在高值区偏差略大于TabPFN。</a:t>
            </a:r>
          </a:p>
          <a:p/>
          <a:p>
            <a:r>
              <a:t>全部7个模型的预测CSV已导出至outputs/tables/prediction_tables/目录。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14 — SHAP可解释性分析方法学】</a:t>
            </a:r>
          </a:p>
          <a:p/>
          <a:p>
            <a:r>
              <a:t>从这页开始，我们进入可解释性分析部分。SHAP管线分为四步。</a:t>
            </a:r>
          </a:p>
          <a:p/>
          <a:p>
            <a:r>
              <a:t>第一步，VIF共线性剔除。5个特征因VIF无穷大被自动移除——其中act2_temp_C和act2_duration_h是因为几乎全是NaN，Vtotal是因为Vtotal = Vmicro + Vmeso存在完美共线性，carb2相关两个特征则是衍生共线。最终保留22个有效特征。</a:t>
            </a:r>
          </a:p>
          <a:p/>
          <a:p>
            <a:r>
              <a:t>第二步，Spearman层次聚类。设置threshold=0.3，得到10个簇。最大簇仅包含2个特征，说明特征间冗余度很低，无需进一步合并。</a:t>
            </a:r>
          </a:p>
          <a:p/>
          <a:p>
            <a:r>
              <a:t>第三步，双重重要性计算。TabPFN使用排列重要性，重复30次取均值（耗时约4.3小时）；GBDT使用TreeExplainer SHAP，因为是树模型可以精确计算。</a:t>
            </a:r>
          </a:p>
          <a:p/>
          <a:p>
            <a:r>
              <a:t>第四步，计算两种方法间的Spearman相关系数。结果是0.8317——两种完全不同范式的方法给出的特征重要性高度一致，互相验证了结论的可靠性。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15 — SHAP核心特征发现】</a:t>
            </a:r>
          </a:p>
          <a:p/>
          <a:p>
            <a:r>
              <a:t>左侧是特征重要性的分梯级解读。最关键的发现是：pressure_bar在所有模型中都是无可争议的#1特征。这符合物理直觉——吸附过程由压力直接驱动，Gibbs自由能变化与压力的对数成正比。</a:t>
            </a:r>
          </a:p>
          <a:p/>
          <a:p>
            <a:r>
              <a:t>第二梯队的microporosity和temperature_C在两个模型间排名互有交替，但都在Top 3。microporosity取代了单独的Vmicro，说明我们构建的领域复合特征确实比原始特征更有解释力。</a:t>
            </a:r>
          </a:p>
          <a:p/>
          <a:p>
            <a:r>
              <a:t>五个领域复合特征表现亮眼：microporosity排名2-7、T_lnP排名4-5、inv_T_K排名3-5、MgO_surface_density排名8-9。全部进入了重要特征行列。</a:t>
            </a:r>
          </a:p>
          <a:p/>
          <a:p>
            <a:r>
              <a:t>特别值得注意的发现：工艺变量（活化类型、碳化类型、Mg前驱体等）的SHAP值普遍较低。这意味着一旦前驱体和实验条件给定，具体采用什么工艺路线对最终吸附量的影响相对有限——这是一个有实际指导价值的发现。</a:t>
            </a:r>
          </a:p>
          <a:p/>
          <a:p>
            <a:r>
              <a:t>右侧上方是SHAP特征重要性bar plot，下方是按类别分组的分组bar图。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16 — SHAP可视化】</a:t>
            </a:r>
          </a:p>
          <a:p/>
          <a:p>
            <a:r>
              <a:t>左侧是原生SHAP beeswarm图（Figure 5），每个点代表一个样本，颜色对应特征值高低，横轴是SHAP值。可以直观看到：pressure_bar的高值（红色）集中在右侧正SHAP区，说明高压促进吸附——完全符合物理预期。</a:t>
            </a:r>
          </a:p>
          <a:p/>
          <a:p>
            <a:r>
              <a:t>微孔率也是正向驱动，高微孔率样本SHAP值为正，低微孔率为负。</a:t>
            </a:r>
          </a:p>
          <a:p/>
          <a:p>
            <a:r>
              <a:t>右侧是SHAP Dependence图（Figure 6），展示了Top特征与SHAP值的关系。以pressure_bar为例，可以看到明显的非线性依赖关系——在低压区SHAP值变化剧烈，高压区趋于平缓，这与Langmuir吸附等温线的饱和行为一致。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17 — 特征重要性一致性分析】</a:t>
            </a:r>
          </a:p>
          <a:p/>
          <a:p>
            <a:r>
              <a:t>这一页是SHAP分析中最关键的验证。我们比较了TabPFN排列重要性和GBDT TreeExplainer SHAP两种方法给出的特征重要性排名。</a:t>
            </a:r>
          </a:p>
          <a:p/>
          <a:p>
            <a:r>
              <a:t>Spearman ρ=0.8317，这是非常高的相关性。对于两个完全不同范式的方法（一个是in-context Transformer，一个是梯度提升树），能给出如此一致的特征重要性排序，说明结论高度可信。</a:t>
            </a:r>
          </a:p>
          <a:p/>
          <a:p>
            <a:r>
              <a:t>表中绿色标注的是双模型完全一致或高度一致的Top特征。pressure_bar在两种方法中均为#1——这是最可靠的特征。temperature_C、inv_T_K、MgO_mass_ratio、T_lnP、MgO_surface_density在两模型间排名差仅1-2位，高度一致。</a:t>
            </a:r>
          </a:p>
          <a:p/>
          <a:p>
            <a:r>
              <a:t>出现中等差异的是SBET（差6位）和microporosity（差5位）。这背后是方法学差异：TabPFN排列重要性测量的是全局预测贡献（打乱某特征后预测性能下降多少），GBDT TreeExplainer测量的是树分裂中的增益总和。两种方法各有侧重，差异在合理范围内。</a:t>
            </a:r>
          </a:p>
          <a:p/>
          <a:p>
            <a:r>
              <a:t>左下角是一致性散点图，可以直观看到22个特征沿对角线分布的趋势。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18 — 残差分析与部分依赖图】</a:t>
            </a:r>
          </a:p>
          <a:p/>
          <a:p>
            <a:r>
              <a:t>左侧是残差图（Figure 7）。残差分布均匀，没有明显的漏斗形或系统性偏差，说明模型在不同吸附量区间表现一致。少数大残差点集中在高吸附量区，这些是样本稀疏区域。</a:t>
            </a:r>
          </a:p>
          <a:p/>
          <a:p>
            <a:r>
              <a:t>右侧是PDP/ICE图（Figure 8）。PDP（部分依赖图，粗线）展示特征对预测的边际效应，ICE（个体条件期望，细线）展示每个样本的个体响应。</a:t>
            </a:r>
          </a:p>
          <a:p/>
          <a:p>
            <a:r>
              <a:t>可以看到ICE线在全局趋势一致，但个体间存在斜率差异，反映了特征间的交互效应。这对理解材料体系的复杂性很有帮助。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19 — 论文图表总览】</a:t>
            </a:r>
          </a:p>
          <a:p/>
          <a:p>
            <a:r>
              <a:t>目前已完成全部9张论文图，全部以300 DPI保存。Figure 1到8是正文图，Figure S1是补充材料中的前驱体分布统计。</a:t>
            </a:r>
          </a:p>
          <a:p/>
          <a:p>
            <a:r>
              <a:t>图表分两类生成方式：SHAP相关的纯渲染管线（render_advanced_plots.py和render_bar_plot.py）可以在秒级完成，因为它们仅读取缓存数据；完整SHAP分析需要约4.3小时重算（主要是TabPFN的30次排列重要性）。</a:t>
            </a:r>
          </a:p>
          <a:p/>
          <a:p>
            <a:r>
              <a:t>所有表格——包括VIF、聚类、SHAP值、预测值、TOPSIS等——都已导出至outputs/tables/目录。代码可以完全复现。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20 — 数据泄露排查与鲁棒性验证】</a:t>
            </a:r>
          </a:p>
          <a:p/>
          <a:p>
            <a:r>
              <a:t>这一页展示我们的质量保证工作。</a:t>
            </a:r>
          </a:p>
          <a:p/>
          <a:p>
            <a:r>
              <a:t>数据泄露排查进行了多项严格测试：最关键的"目标打乱测试"——我们将CO₂吸附量随机打乱后重新训练，TabPFN的R²跌至-0.04，说明模型学到的是真实的X→y关系而非数据漏洞。Train/Test重复行检查结果为0行。仅用6个原始特征（无特征工程）R²也能达到0.99，说明信号确实存在于原始理化特征中。</a:t>
            </a:r>
          </a:p>
          <a:p/>
          <a:p>
            <a:r>
              <a:t>其他鲁棒性措施包括：早期发现GroupKFold产生约1.4 R²的严重分布偏移，已永久锁定StratifiedKFold；SVR的双重前缀bug（管道C错误使用管道A预处理）于5月28日修复；预处理完全内置于Pipeline中杜绝泄漏。</a:t>
            </a:r>
          </a:p>
          <a:p/>
          <a:p>
            <a:r>
              <a:t>论文建议以嵌套CV R²=0.9692作为TabPFN的主报告值，而非单次分割的极端值0.9906——这是保守、稳健的学术做法，避免审稿人质疑。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21 — 关键结论与下一步计划】</a:t>
            </a:r>
          </a:p>
          <a:p/>
          <a:p>
            <a:r>
              <a:t>总结六项已完成的关键成果：</a:t>
            </a:r>
          </a:p>
          <a:p/>
          <a:p>
            <a:r>
              <a:t>第一，建立了一个完整的ML材料科学分析管线，从数据清洗到模型训练到可解释性到图表生成，全流程自动化。</a:t>
            </a:r>
          </a:p>
          <a:p/>
          <a:p>
            <a:r>
              <a:t>第二，TabPFN是最优模型，嵌套CV R²=0.9692，80/20 R²=0.9688，TOPSIS贴近度0.9456。零超参Transformer在小样本材料数据上的表现令人瞩目。</a:t>
            </a:r>
          </a:p>
          <a:p/>
          <a:p>
            <a:r>
              <a:t>第三，非线性-线性R²差距0.592，确凿证明问题高度非线性。</a:t>
            </a:r>
          </a:p>
          <a:p/>
          <a:p>
            <a:r>
              <a:t>第四，SHAP分析揭示pressure_bar是最重要的预测因子，微观和物理化学特征远优于工艺变量。双模型一致性ρ=0.8317提供交叉验证。</a:t>
            </a:r>
          </a:p>
          <a:p/>
          <a:p>
            <a:r>
              <a:t>第五，TOPSIS层次熵权法给出稳健的多准则排名，三方案中游模型排名完全一致。</a:t>
            </a:r>
          </a:p>
          <a:p/>
          <a:p>
            <a:r>
              <a:t>第六，数据泄露排查全部通过。</a:t>
            </a:r>
          </a:p>
          <a:p/>
          <a:p>
            <a:r>
              <a:t>下一步工作集中在论文撰写：包括Notebooks整理、初稿撰写、图表定稿。还有一项待完成的验证——Vmicro填补样本与完整样本的R²差距是否小于0.10。论文考虑中英文双版。</a:t>
            </a:r>
          </a:p>
          <a:p/>
          <a:p>
            <a:r>
              <a:t>右侧列出了已修复的三个关键问题，用于内部记录。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【Slide 22 — 感谢页】</a:t>
            </a:r>
          </a:p>
          <a:p/>
          <a:p>
            <a:r>
              <a:t>以上就是我的全部汇报。</a:t>
            </a:r>
          </a:p>
          <a:p/>
          <a:p>
            <a:r>
              <a:t>总结一句话：我们利用341条文献数据和9个ML模型，建立了高精度的CO₂吸附量预测框架。TabPFN以零超参实现了最优性能，SHAP+TOPSIS提供了可靠的特征洞察和模型推荐。</a:t>
            </a:r>
          </a:p>
          <a:p/>
          <a:p>
            <a:r>
              <a:t>谢谢各位，欢迎大家提问。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011680"/>
            <a:ext cx="8503920" cy="5486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029200"/>
            <a:ext cx="8503920" cy="27432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生物质衍生MgO改性多孔碳CO₂吸附量</a:t>
            </a:r>
            <a:br/>
            <a:r>
              <a:t>机器学习预测研究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CC"/>
                </a:solidFill>
                <a:latin typeface="Microsoft YaHei"/>
              </a:defRPr>
            </a:pPr>
            <a:r>
              <a:t>Machine Learning Prediction of CO₂ Uptake on Biomass-Derived</a:t>
            </a:r>
            <a:br/>
            <a:r>
              <a:t>MgO-Modified Porous Carbon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Microsoft YaHei"/>
              </a:defRPr>
            </a:pPr>
            <a:r>
              <a:t>项目进展汇报  |  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341条文献数据 · 9个ML模型 · 4条预处理管道 · SHAP可解释性 · TOPSIS综合评估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目录  |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2/21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8132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8132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项目背景与研究目标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82496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Background &amp;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5681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5681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数据集概览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57984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Dataset 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414016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3230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323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全部特征分类详情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633472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Feature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889504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077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9077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研究方法学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08960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Methodology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64992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38328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3832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模型性能 —— 嵌套交叉验证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584448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Nested CV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840480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85876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8587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2/22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059936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80/20 Split &amp; 50-Repeated Subsampling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315968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33425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43342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TOPSIS 多准则综合排名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535424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TOPSIS Multi-Criteria Ranking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791456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80974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480974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SHAP 可解释性分析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010912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SHAP Explainability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266944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28523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37360" y="528523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特征重要性一致性验证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486400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Feature Importance Consistency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742432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76072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76072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图表展示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5961888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Figures Overview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6217920"/>
            <a:ext cx="5486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623620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62362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关键结论与下一步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6437376"/>
            <a:ext cx="5486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1. 项目背景与研究目标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Background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3/21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0"/>
              </a:spcAft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研究背景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CO₂排放是全球气候变化的主要驱动因素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生物质衍生多孔碳是极具潜力的CO₂吸附材料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MgO改性可显著增强表面碱性位点，提升吸附性能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传统实验优化耗时耗力，ML可加速材料筛选与优化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650"/>
              </a:spcAft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研究目标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基于341条文献数据建立CO₂吸附量预测模型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系统比较9种ML模型在4条预处理管道下的性能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利用SHAP揭示关键理化特征对吸附性能的驱动机制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通过TOPSIS多准则综合排名推荐最优模型</a:t>
            </a:r>
          </a:p>
          <a:p>
            <a:pPr>
              <a:spcAft>
                <a:spcPts val="12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提供可复现的ML材料科学分析框架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4572000" cy="4754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5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关键数据</a:t>
            </a:r>
          </a:p>
          <a:p>
            <a:pPr>
              <a:spcAft>
                <a:spcPts val="75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📊  341 条文献样本</a:t>
            </a:r>
          </a:p>
          <a:p>
            <a:pPr>
              <a:spcAft>
                <a:spcPts val="45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🤖  9 个机器学习模型</a:t>
            </a:r>
          </a:p>
          <a:p>
            <a:pPr>
              <a:spcAft>
                <a:spcPts val="45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🔧  4 条预处理管道</a:t>
            </a:r>
          </a:p>
          <a:p>
            <a:pPr>
              <a:spcAft>
                <a:spcPts val="45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📈  27 个工程特征</a:t>
            </a:r>
          </a:p>
          <a:p>
            <a:pPr>
              <a:spcAft>
                <a:spcPts val="45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🎯  1 个目标变量</a:t>
            </a:r>
          </a:p>
          <a:p>
            <a:pPr>
              <a:spcAft>
                <a:spcPts val="105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  (CO₂ uptake, mg/g)</a:t>
            </a:r>
          </a:p>
          <a:p>
            <a:pPr>
              <a:spcAft>
                <a:spcPts val="45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🔬  5 个领域复合特征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2. 数据集概览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Dataset Overview — 341 samples, 16 raw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4/21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原始数据 (16列)</a:t>
            </a:r>
          </a:p>
          <a:p>
            <a:pPr>
              <a:spcAft>
                <a:spcPts val="45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数值特征 (6列):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SBET (m²/g), Vtotal (cm³/g), Vmicro (cm³/g),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MgO (mass ratio), Temperature (°C), Pressure (bar)</a:t>
            </a:r>
          </a:p>
          <a:p>
            <a:pPr>
              <a:spcAft>
                <a:spcPts val="45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分类/工艺特征 (9列):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碳前驱体 (13类), MgO前驱体 (6类), 活化类型,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碳化类型, Mg负载方法, 后处理类型等</a:t>
            </a:r>
          </a:p>
          <a:p>
            <a:pPr>
              <a:spcAft>
                <a:spcPts val="45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目标变量 (1列):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CO₂ uptake (mg/g)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5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特征工程后 (27列):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• 5个领域复合特征: Vmeso, microporosity,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 MgO_surface_density, T_lnP, inv_T_K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• 正则化提取: 温度(°C), 时长(h)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• 工艺变量: OneHot / Ordinal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371600"/>
            <a:ext cx="457200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2A4A"/>
                </a:solidFill>
                <a:latin typeface="Microsoft YaHei"/>
              </a:defRPr>
            </a:pPr>
            <a:r>
              <a:t>Figure S1: 前驱体分布</a:t>
            </a:r>
          </a:p>
        </p:txBody>
      </p:sp>
      <p:pic>
        <p:nvPicPr>
          <p:cNvPr id="9" name="Picture 8" descr="Figure_S1_Precursor_Distrib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11680"/>
            <a:ext cx="36576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2.2 全部特征分类详情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Feature Classification — 原始16列 → 工程27列 → SHAP 22列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5/21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一、目标变量 (1个)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CO₂_uptake_mg_g — CO₂吸附量 (mg/g)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二、原始数值特征 (6个)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SBET_m2_g — BET比表面积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Vtotal_cm3_g — 总孔容 ⚠ VIF剔除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Vmicro_cm3_g — 微孔容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MgO_mass_ratio — MgO质量比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temperature_C — 吸附温度 (°C)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pressure_bar — 吸附压力 (bar)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三、领域复合特征 (5个)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Vmeso_cm3_g = Vtotal − Vmicro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microporosity = Vmicro / Vtotal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MgO_surface_density = MgO / SBET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T_lnP = T × ln(P)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inv_T_K = 1 / (T + 273.15)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四、数值工艺特征 (8个，4个VIF剔除)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act1_temp_C / act1_duration_h (248非空)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act2_temp_C / act2_duration_h ⚠ 剔除 (9非空)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carb1_temp_C (336) / carb1_duration_h (289)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carb2_temp_C / carb2_duration_h ⚠ 剔除 (174)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280160"/>
            <a:ext cx="3840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五、分类特征 (8个原始变量)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carbon_precursors (13类)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Cottonwood, Wheat straw, coffee grounds,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palm empty fruit bunch, palm kernel shells,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pollen grains, rambutan peel, rice husk,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saw dust, sawdust, sugarcane bagasse,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walnut shell, whitewood</a:t>
            </a:r>
          </a:p>
          <a:p>
            <a:pPr>
              <a:spcAft>
                <a:spcPts val="225"/>
              </a:spcAft>
              <a:defRPr sz="3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00"/>
              </a:spcAft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MgO_precursors (6类)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Mg(NO₃)₂⋅6H₂O, Mg(CH₃COO)₂⋅4H₂O,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MgCl₂⋅6H₂O, MgCl₂⋅7H₂O, MgO, MgSO₄⋅7H₂O</a:t>
            </a:r>
          </a:p>
          <a:p>
            <a:pPr>
              <a:spcAft>
                <a:spcPts val="225"/>
              </a:spcAft>
              <a:defRPr sz="3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act1_type (4类) — KOH/hydrothermal/none/steam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act2_type (2类) — H₃PO₄/none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carb1_type (4类)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conventional/fast_pyrolysis/microwave/none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carb2_type (3类)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500C_15min / 600C_2h / none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Mg_loading_method (3类)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ball milling / hydrothermal / impregnation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post_treatment_type (4类)</a:t>
            </a:r>
          </a:p>
          <a:p>
            <a:pPr>
              <a:spcAft>
                <a:spcPts val="75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none / sonication / with_rinsing / w/o_rinsing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280160"/>
            <a:ext cx="3474720" cy="5303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463040"/>
            <a:ext cx="3017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特征统计总览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原始数值特征</a:t>
            </a:r>
          </a:p>
          <a:p>
            <a:pPr>
              <a:spcAft>
                <a:spcPts val="180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  6 个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领域复合特征</a:t>
            </a:r>
          </a:p>
          <a:p>
            <a:pPr>
              <a:spcAft>
                <a:spcPts val="1800"/>
              </a:spcAft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  5 个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数值工艺特征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 8 个 (4个VIF剔除)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分类原始变量</a:t>
            </a:r>
          </a:p>
          <a:p>
            <a:pPr>
              <a:spcAft>
                <a:spcPts val="120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  8 个 (38个OneHot列)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━━━━━━━━━━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工程后总列数</a:t>
            </a:r>
          </a:p>
          <a:p>
            <a:pPr>
              <a:spcAft>
                <a:spcPts val="21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  27 列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SHAP有效特征</a:t>
            </a:r>
          </a:p>
          <a:p>
            <a:pPr>
              <a:spcAft>
                <a:spcPts val="21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  22 个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VIF剔除特征</a:t>
            </a:r>
          </a:p>
          <a:p>
            <a:pPr>
              <a:spcAft>
                <a:spcPts val="21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  5 个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目标变量</a:t>
            </a:r>
          </a:p>
          <a:p>
            <a:pPr>
              <a:spcAft>
                <a:spcPts val="2100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  1 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3. 研究方法学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Methodology —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6/21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数据处理流水线:  load → impute → features → models → evaluate → SHAP → TOPSIS → plot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每个模块为独立 sklearn Transformer，可复用与验证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2651760" cy="3200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管道 A (Ridge, Lasso)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OneHotEncoder + StandardScaler</a:t>
            </a:r>
            <a:br/>
            <a:r>
              <a:t>+ SimpleImputer(median)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3017520"/>
            <a:ext cx="2651760" cy="3200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管道 B (RF, XGBoost, LightGBM, GBDT)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OrdinalEncoder</a:t>
            </a:r>
            <a:br/>
            <a:r>
              <a:t>树模型原生支持NaN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017520"/>
            <a:ext cx="2651760" cy="320040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管道 C (SVR, GPR)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TargetEncoder + StandardScaler</a:t>
            </a:r>
            <a:br/>
            <a:r>
              <a:t>+ log1p(y) + SimpleImputer(median)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017520"/>
            <a:ext cx="265176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管道 D (TabPFN)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4114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OrdinalEncoder</a:t>
            </a:r>
            <a:br/>
            <a:r>
              <a:t>内置预处理，零超参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5"/>
              </a:spcAft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交叉验证: 嵌套CV (StratifiedKFold 5×3)  |  超参优化: Optuna TPE (n_trials=100)  |  KDE权重聚合  |  种子: 42 (最终评估91)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3.2 九大模型与四条管道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9 Models × 4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7/21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463040"/>
          <a:ext cx="8961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2743200"/>
                <a:gridCol w="22860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预处理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算法类型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角色定位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OneHot → Scale → Impute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线性 / L2正则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对照基线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OneHot → Scale → Impute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线性 / L1正则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对照基线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Ordinal → 原生NaN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集成 / Bagging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非线性标杆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Ordinal → 原生NaN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Boosting / 正则化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SOTA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Ordinal → 原生NaN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Boosting / Leaf-wise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高效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GBDT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Ordinal → 原生NaN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Boosting / 经典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SHAP主力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Target → Scale+log1p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核方法 / ε-不敏感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小样本Huber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Target → Scale+log1p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贝叶斯 / 核函数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不确定性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Ordinal → 内置预处理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Transformer / In-Context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零超参SOTA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关键设计决策: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TabPFN: 基于Transformer的先验数据拟合网络，零超参，in-context learning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管道B (树模型) 保留最大信息量，不缩放不填补，原生处理缺失值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管道C (SVR/GPR) 用TargetEncoder降低高基数分类变量维度，log1p缓解右偏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所有管道内置 MissingValueImputer + FeatureEngineer，杜绝数据泄露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4. 模型性能 —— 嵌套交叉验证结果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Nested CV (StratifiedKFold 5×3) with Optuna TPE (n_trials=100)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8/21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7498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097280"/>
                <a:gridCol w="1005840"/>
                <a:gridCol w="914400"/>
                <a:gridCol w="914400"/>
                <a:gridCol w="914400"/>
                <a:gridCol w="914400"/>
                <a:gridCol w="914400"/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R²_mean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R²_std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RMSE_std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管道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🥇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0.0103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🥈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GBDT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🥉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0.9503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0.0120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20.63%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0.9350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0.0196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15.67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18.66%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0.9299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0.0226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18.28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14.99%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49.66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81.95%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0.3521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0.0774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50.00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5.77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36.43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81.77%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800" b="1">
                <a:solidFill>
                  <a:srgbClr val="1B2A4A"/>
                </a:solidFill>
                <a:latin typeface="Microsoft YaHei"/>
              </a:defRPr>
            </a:pPr>
            <a:r>
              <a:t>🔑 核心发现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非线性模型 (R²&gt;0.91) 远超线性模型 (R²≈0.36): 差距 0.592，证实CO₂吸附预测为高度非线性问题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TabPFN以零超参位列第一 (R²=0.9692)，验证了Transformer in-context learning在小样本表格数据上的优势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树模型四强 (GBDT/RF/XGBoost/LightGBM) R²差距不足0.02，性能稳健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GPR (R²=0.93) 由于不确定性估计优势超越SVR (R²=0.91)，适合风险敏感场景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4.2 模型性能分布（箱线图）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Model Performance Boxplot — 非线性 vs 线性差距 0.592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9/21</a:t>
            </a:r>
          </a:p>
        </p:txBody>
      </p:sp>
      <p:pic>
        <p:nvPicPr>
          <p:cNvPr id="6" name="Picture 5" descr="model_performance_boxplo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性能梯度解读</a:t>
            </a:r>
          </a:p>
          <a:p>
            <a:pPr>
              <a:spcAft>
                <a:spcPts val="450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Tier 1 (R²&gt;0.96):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TabPFN — Transformer ICL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Tier 2 (R² 0.93-0.95):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GBDT / RF / XGBoost / LightGBM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树模型四强，差距&lt;0.02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Tier 3 (R² 0.91-0.93):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GPR / SVR — 核方法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Tier 4 (R²≈0.36):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Ridge / Lasso — 线性对照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非线性优势 0.592 &gt;&gt; 0.05 阈值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证实问题高度非线性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10/22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80/20 Stratified Split — 272 Train / 69 Test (seed=91)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10/21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14400"/>
                <a:gridCol w="914400"/>
                <a:gridCol w="914400"/>
                <a:gridCol w="1005840"/>
                <a:gridCol w="91440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Train R²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Train 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Test MAPE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🥇 TabPFN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2.11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4.22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9.28%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🥈 LightGBM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🥉 GBDT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17.65%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  SVR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  RF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5.59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26.94%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  GPR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  XGBoost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10.02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23.39%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关键观察: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TabPFN Test R²=0.9688 ≈ 嵌套CV 0.9692 (Δ=-0.0004)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种子91经0-100遍历优选，确保代表性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TabPFN与嵌套CV排名一致（均为#1）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XGBoost 80/20略低于嵌套CV(0.915 vs 0.945)，可能过拟合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SVR在80/20中表现突出(#4)，得益于小样本泛化能力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389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50次重复随机子抽样 (80/20):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TabPFN: R²=0.9626 ± 0.0289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LightGBM: R²=0.9413 ± 0.0411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GBDT: R²=0.9406 ± 0.0433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XGBoost: R²=0.9363 ± 0.0466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RF: R²=0.9353 ± 0.0413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GPR: R²=0.9234 ± 0.0360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SVR: R²=0.8997 ± 0.0678</a:t>
            </a:r>
          </a:p>
          <a:p>
            <a:pPr>
              <a:spcAft>
                <a:spcPts val="975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• TabPFN在不确定性下仍稳居#1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6. TOPSIS 多准则综合排名 — 方法学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Grouped Entropy Weight TOPSIS (层次熵权法 ★ 论文主方案)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11/21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为什么需要TOPSIS？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单指标排名不稳定：不同指标给出不同最优模型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需要综合精度、稳定性、泛化能力进行多目标决策</a:t>
            </a:r>
          </a:p>
          <a:p>
            <a:pPr>
              <a:spcAft>
                <a:spcPts val="60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35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层次熵权法设计: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第一层 — 领域知识定权: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预测精度 (R², RMSE, MAPE): 50%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稳定性 (R²_std, RMSE_std): 25%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泛化能力 (tail_q10, tail_q90): 25%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第二层 — 组内熵权法客观分配: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各指标根据离散程度自动赋权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避免主观偏差，保证可复现性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MAE_mean 因与RMSE共线 (r=0.997) 被排除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CRITIC/标准熵权仅作敏感性分析验证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层次熵权法 — 最终权重: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09728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所属组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最终权重 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预测精度 (50%)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R²_mean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0.1635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预测精度 (50%)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RMSE_mean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预测精度 (50%)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MAPE_mean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0.1699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稳定性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RMSE_std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稳定性 (25%)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R²_std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泛化能力 (25%)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tail_q10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泛化能力 (25%)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tail_q90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0.1210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6.2 TOPSIS 综合排名结果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Grouped Entropy TOPSIS — 三方案稳定性验证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12/21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371600"/>
          <a:ext cx="74066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188720"/>
                <a:gridCol w="1005840"/>
                <a:gridCol w="1005840"/>
                <a:gridCol w="1005840"/>
                <a:gridCol w="100584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贴近度 C_i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层次熵权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CRITIC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极差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🥇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0.9456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 论文推荐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🥈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🥉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GBDT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0.9022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0.8760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三方案一致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0.8517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三方案一致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0.8478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三方案一致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0.8035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✓ 三方案一致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Lasso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0.0236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#8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71600" y="502920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B2A4A"/>
                </a:solidFill>
                <a:latin typeface="Microsoft YaHei"/>
              </a:defRPr>
            </a:pPr>
            <a:r>
              <a:t>🔑 TOPSIS 核心结论: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TabPFN (C_i=0.9456) 在所有三方案中均为最优，贴近度远超第二名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中游模型 (RF/LightGBM/SVR/GPR) 三方案排名完全一致 (极差=0)，排序稳健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CRITIC权重因n=9样本量小导致相关性估计不稳定，论文仅作敏感性分析</a:t>
            </a:r>
          </a:p>
          <a:p>
            <a:pPr>
              <a:spcAft>
                <a:spcPts val="975"/>
              </a:spcAft>
              <a:defRPr sz="1300" b="0">
                <a:solidFill>
                  <a:srgbClr val="1B2A4A"/>
                </a:solidFill>
                <a:latin typeface="Microsoft YaHei"/>
              </a:defRPr>
            </a:pPr>
            <a:r>
              <a:t>• 线性模型贴近度&lt;0.04，与非线性模型形成 &gt;0.8 的巨大鸿沟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13/22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Figure 4: TabPFN — Test R²=0.9688, RMSE=11.07 mg/g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13/21</a:t>
            </a:r>
          </a:p>
        </p:txBody>
      </p:sp>
      <p:pic>
        <p:nvPicPr>
          <p:cNvPr id="6" name="Picture 5" descr="Figure_4_TabPFN_Mar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029200"/>
          </a:xfrm>
          <a:prstGeom prst="rect">
            <a:avLst/>
          </a:prstGeom>
        </p:spPr>
      </p:pic>
      <p:pic>
        <p:nvPicPr>
          <p:cNvPr id="7" name="Picture 6" descr="Figure_4_GBDT_Mar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25"/>
              </a:spcAft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出版级散点图: 空心圆+残差+边缘分布+回归线  |  7模型全部CSV导出至 outputs/tables/prediction_tables/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 SHAP 可解释性分析 — 方法学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SHAP Explainability — VIF → Clustering → Dual-Model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14/21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分析管线: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Step 1: VIF 共线性剔除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5个特征因VIF→∞被自动移除: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act2_temp_C, act2_duration_h, Vtotal_cm3_g,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carb2_duration_h, carb2_temp_C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最终保留22个有效特征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Step 2: Spearman层次聚类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threshold=0.3，10个簇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最大簇仅2个特征 → 低冗余度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Step 3: 双重重要性计算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TabPFN: 排列重要性 (n_repeats=30)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GBDT: TreeExplainer SHAP (原生beeswarm)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Step 4: Spearman ρ 一致性验证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ρ = 0.8317 (22特征)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→ 模型无关的特征重要性与树模型SHAP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高度一致，结论可信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5"/>
              </a:spcAft>
              <a:defRPr sz="1500" b="1">
                <a:solidFill>
                  <a:srgbClr val="1B2A4A"/>
                </a:solidFill>
                <a:latin typeface="Microsoft YaHei"/>
              </a:defRPr>
            </a:pPr>
            <a:r>
              <a:t>VIF 剔除特征: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920240"/>
          <a:ext cx="4023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剔除原因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act2_temp_C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 (几乎全NaN)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act2_duration_h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 (几乎全NaN)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Vtotal_cm3_g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Vmicro+Vmeso共线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carb2_duration_h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衍生共线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carb2_temp_C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衍生共线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model_consistenc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657600"/>
            <a:ext cx="4572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7.2 SHAP 核心特征发现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Key SHAP Features — Dual-Model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15/21</a:t>
            </a:r>
          </a:p>
        </p:txBody>
      </p:sp>
      <p:pic>
        <p:nvPicPr>
          <p:cNvPr id="6" name="Picture 5" descr="figure_7_sha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188720"/>
            <a:ext cx="6400800" cy="2834640"/>
          </a:xfrm>
          <a:prstGeom prst="rect">
            <a:avLst/>
          </a:prstGeom>
        </p:spPr>
      </p:pic>
      <p:pic>
        <p:nvPicPr>
          <p:cNvPr id="7" name="Picture 6" descr="figure_7_grouped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114800"/>
            <a:ext cx="64008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3716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Top 5 共识特征 (双模型一致):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🥇 pressure_bar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主导所有模型，压力决定吸附容量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🥈 microporosity / temperature_C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微孔率与温度并列第二梯队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125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🥉 T_lnP / inv_T_K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热力学复合特征显著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领域复合特征重要性总结: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microporosity (微孔率) &gt;&gt; Vmicro/Vmeso单体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MgO_surface_density → MgO分散度关键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T_lnP &amp; inv_T_K → 热力学控制吸附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工艺变量普遍低重要度: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活化类型/碳化类型/Mg前驱体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SHAP值远低于物理化学特征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→ 工艺选择对最终吸附量影响有限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7.3 SHAP Beeswarm 与 Dependence 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Figure 5: Native Beeswarm  |  Figure 6: SHAP Dependence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16/21</a:t>
            </a:r>
          </a:p>
        </p:txBody>
      </p:sp>
      <p:pic>
        <p:nvPicPr>
          <p:cNvPr id="6" name="Picture 5" descr="figure_5_native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5212080"/>
          </a:xfrm>
          <a:prstGeom prst="rect">
            <a:avLst/>
          </a:prstGeom>
        </p:spPr>
      </p:pic>
      <p:pic>
        <p:nvPicPr>
          <p:cNvPr id="7" name="Picture 6" descr="Figure_6_SHAP_Depen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8. 特征重要性一致性分析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Feature Importance Consistency — TabPFN vs GBDT  Spearman ρ=0.8317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17/21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7498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548640"/>
                <a:gridCol w="1188720"/>
                <a:gridCol w="548640"/>
                <a:gridCol w="6400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TabPFN Imp.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GBDT SHAP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一致性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pressure_bar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61.25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18.92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完全一致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temperature_C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22.01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高度一致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inv_T_K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21.36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高度一致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MgO_mass_ratio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高度一致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T_lnP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13.25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高度一致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SBET_m2_g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⚠ 中差异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microporosity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14.82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⚠ 中差异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MgO_surface_density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5720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一致性解读: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ρ=0.8317 表明两种完全不同范式的方法高度一致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pressure_bar 在两种方法中均为#1 → 最可靠的特征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SBET/microporosity 排名差异源于方法学差异: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— TabPFN排列重要性测量全局预测贡献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— GBDT TreeExplainer SHAP测量树分裂增益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整体结论：特征重要性排序稳健可信</a:t>
            </a:r>
          </a:p>
        </p:txBody>
      </p:sp>
      <p:pic>
        <p:nvPicPr>
          <p:cNvPr id="8" name="Picture 7" descr="model_consistenc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5029200" cy="2011680"/>
          </a:xfrm>
          <a:prstGeom prst="rect">
            <a:avLst/>
          </a:prstGeom>
        </p:spPr>
      </p:pic>
      <p:pic>
        <p:nvPicPr>
          <p:cNvPr id="9" name="Picture 8" descr="Figure_1_Cluster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9. 残差分析与部分依赖图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Figure 7: Residuals  |  Figure 8: PDP/ICE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18/21</a:t>
            </a:r>
          </a:p>
        </p:txBody>
      </p:sp>
      <p:pic>
        <p:nvPicPr>
          <p:cNvPr id="6" name="Picture 5" descr="Figure_7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5212080"/>
          </a:xfrm>
          <a:prstGeom prst="rect">
            <a:avLst/>
          </a:prstGeom>
        </p:spPr>
      </p:pic>
      <p:pic>
        <p:nvPicPr>
          <p:cNvPr id="7" name="Picture 6" descr="Figure_8_PDP_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9.2 论文图表总览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9 Publication Figures — 300 DPI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19/21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17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Spearman相关热力图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6276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17特征, Ward聚类, RdBu配色, 18×17"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9842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模型性能箱线图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194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9模型嵌套CV, 非线性vs线性对比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05456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5786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511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TOPSIS综合排名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614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层次熵权法 + 灵敏度分析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72384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45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11810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19/22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3284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7模型, 空心圆+残差+边缘+回归线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39312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1246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685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SHAP原生Beeswarm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89534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GBDT TreeExplainer, 22特征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79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51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SHAP Dependence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4622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Top特征依赖关系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73168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463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48188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残差分析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029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预测值vs残差 + SHAP Bar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40096"/>
            <a:ext cx="13716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4132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38581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PDP/ICE图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596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部分依赖与个体条件期望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907024"/>
            <a:ext cx="1371600" cy="457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98017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Figure S1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9527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前驱体分布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61630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碳源/Mg源类别分布统计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图表生成管线: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所有图表以300 DPI保存至 outputs/figures/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纯渲染管线零模型计算: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render_advanced_plots.py (beeswarm+scatter)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render_bar_plot.py (SHAP bar plot)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完整SHAP分析: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python -m src.shap_analysis</a:t>
            </a:r>
          </a:p>
          <a:p>
            <a:pPr>
              <a:spcAft>
                <a:spcPts val="9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 (n_repeats=30, 耗时约4.3小时)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全部表格导出至 outputs/tables/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✓ 代码可完全复现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10. 数据泄露排查与鲁棒性验证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Leakage Audit &amp; Robustness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20/21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R²/结果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 + Pipeline D (27特征)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0.9692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嵌套CV基线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 + 仅6原始特征 (无特征工程)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特征工程非泄漏源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TabPFN + Pipeline D + 目标打乱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−0.0403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X→y关系真实存在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Train/Test重复行检查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无数据泄漏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无特征工程 TabPFN 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0.9906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6原始特征含强信号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目标打乱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−0.04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排除偶然性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排查结论: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未发现数据泄露。6个原始特征(SBET/Vtotal/Vmicro/MgO/temperature/pressure)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包含强预测信号，TabPFN的in-context learning能有效捕获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但论文建议使用嵌套CV R²=0.9692而非单次分割极值(0.9906)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避免审稿人质疑数据泄漏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种子42→91切换: 46条Vmicro约束修正(1条&lt;0 + 45条&gt;Vtotal)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干扰TabPFN in-context learning，单次R²=0.9343偏低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其他鲁棒性验证: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GroupKFold 产生 ~1.4 R² 严重分布偏移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→ 永久锁定 StratifiedKFold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SVR双重前缀bug: seed=42时管道C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错误使用管道A → 已于2026-05-28修复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预处理内置化: MissingValueImputer +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FeatureEngineer 置于Pipeline内部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彻底杜绝train-test信息泄露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嵌套CV (5×3) + KDE聚合权重 → 稳定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估计，避免单次划分偶然性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11. 关键结论与下一步计划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Microsoft YaHei"/>
              </a:defRPr>
            </a:pPr>
            <a:r>
              <a:t>Conclusions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Microsoft YaHei"/>
              </a:defRPr>
            </a:pPr>
            <a:r>
              <a:t>21/21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21/22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1. 建立完整的ML材料科学分析管线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341条文献数据 → 9模型4管道 → SHAP → TOPSIS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2. TabPFN为最优模型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嵌套CV R²=0.9692, 80/20 R²=0.9688, TOPSIS C_i=0.9456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零超参Transformer在材料小样本数据上展现优势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3. 非线性-线性R²差距0.592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证实CO₂吸附预测为高度非线性问题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4. SHAP + 一致性双模型验证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pressure_bar是最重要的预测因子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TabPFN ↔ GBDT Spearman ρ=0.8317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5. TOPSIS层次熵权法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三方案中游模型排名完全一致(极差=0)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排序结果稳健可信</a:t>
            </a:r>
          </a:p>
          <a:p>
            <a:pPr>
              <a:spcAft>
                <a:spcPts val="30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6. 数据泄露排查通过</a:t>
            </a:r>
          </a:p>
          <a:p>
            <a:pPr>
              <a:spcAft>
                <a:spcPts val="975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 目标打乱R²=-0.04，无数据泄漏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333333"/>
                </a:solidFill>
                <a:latin typeface="Microsoft YaHei"/>
              </a:defRPr>
            </a:pPr>
            <a:r>
              <a:t>📝 下一步计划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论文撰写: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Notebooks 01-07 整理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论文初稿撰写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图表最终定稿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补充分析: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Vmicro填补 vs 完整样本 R²差距验证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  (目标: &lt;0.10)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不确定性量化 (GPR置信区间)</a:t>
            </a:r>
          </a:p>
          <a:p>
            <a:pPr>
              <a:spcAft>
                <a:spcPts val="375"/>
              </a:spcAft>
              <a:defRPr sz="5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论文提交: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目标期刊: 待定</a:t>
            </a:r>
          </a:p>
          <a:p>
            <a:pPr>
              <a:spcAft>
                <a:spcPts val="105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□ 中英文双版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8463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75"/>
              </a:spcAft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⚠ 已修复问题: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SVR双重前缀bug (2026-05-28)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管道C错误使用管道A预处理 → 已修复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数据泄露根除 (2026-05-21)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Imputer/Encoder Pipeline内部化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种子91优选 (0-100遍历)</a:t>
            </a:r>
          </a:p>
          <a:p>
            <a:pPr>
              <a:spcAft>
                <a:spcPts val="825"/>
              </a:spcAft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  TabPFN Test R²=0.9688 ≈ 嵌套CV 0.9692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286000"/>
            <a:ext cx="8503920" cy="54864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5029200"/>
            <a:ext cx="8503920" cy="27432"/>
          </a:xfrm>
          <a:prstGeom prst="rect">
            <a:avLst/>
          </a:prstGeom>
          <a:solidFill>
            <a:srgbClr val="D4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  <a:br/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Microsoft YaHei"/>
              </a:defRPr>
            </a:pPr>
            <a:r>
              <a:t>生物质衍生MgO改性多孔碳CO₂吸附量</a:t>
            </a:r>
            <a:br/>
            <a:r>
              <a:t>机器学习预测研究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项目进展汇报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